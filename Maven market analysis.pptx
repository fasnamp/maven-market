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3" r:id="rId6"/>
    <p:sldId id="260" r:id="rId7"/>
    <p:sldId id="264" r:id="rId8"/>
    <p:sldId id="261" r:id="rId9"/>
    <p:sldId id="265" r:id="rId10"/>
    <p:sldId id="262" r:id="rId11"/>
    <p:sldId id="266" r:id="rId12"/>
    <p:sldId id="269" r:id="rId13"/>
    <p:sldId id="267" r:id="rId14"/>
    <p:sldId id="268"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389213018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3142223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3306551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3F9067-2E7E-431C-8DF6-6B86EA10A33E}"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66643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3F9067-2E7E-431C-8DF6-6B86EA10A33E}" type="datetimeFigureOut">
              <a:rPr lang="en-US" smtClean="0"/>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650707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3F9067-2E7E-431C-8DF6-6B86EA10A33E}" type="datetimeFigureOut">
              <a:rPr lang="en-US" smtClean="0"/>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894293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A3F9067-2E7E-431C-8DF6-6B86EA10A33E}" type="datetimeFigureOut">
              <a:rPr lang="en-US" smtClean="0"/>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389321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3F9067-2E7E-431C-8DF6-6B86EA10A33E}"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309222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3F9067-2E7E-431C-8DF6-6B86EA10A33E}"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8245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3F9067-2E7E-431C-8DF6-6B86EA10A33E}"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276066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767127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044833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1911669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383482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174973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591089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3F9067-2E7E-431C-8DF6-6B86EA10A33E}"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4ECF9-7565-40CF-A32F-86DEE9F5B6E5}" type="slidenum">
              <a:rPr lang="en-US" smtClean="0"/>
              <a:t>‹#›</a:t>
            </a:fld>
            <a:endParaRPr lang="en-US"/>
          </a:p>
        </p:txBody>
      </p:sp>
    </p:spTree>
    <p:extLst>
      <p:ext uri="{BB962C8B-B14F-4D97-AF65-F5344CB8AC3E}">
        <p14:creationId xmlns:p14="http://schemas.microsoft.com/office/powerpoint/2010/main" val="2507736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3F9067-2E7E-431C-8DF6-6B86EA10A33E}" type="datetimeFigureOut">
              <a:rPr lang="en-US" smtClean="0"/>
              <a:t>12/24/2025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7C4ECF9-7565-40CF-A32F-86DEE9F5B6E5}" type="slidenum">
              <a:rPr lang="en-US" smtClean="0"/>
              <a:t>‹#›</a:t>
            </a:fld>
            <a:endParaRPr lang="en-US"/>
          </a:p>
        </p:txBody>
      </p:sp>
    </p:spTree>
    <p:extLst>
      <p:ext uri="{BB962C8B-B14F-4D97-AF65-F5344CB8AC3E}">
        <p14:creationId xmlns:p14="http://schemas.microsoft.com/office/powerpoint/2010/main" val="145498970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5127F-EE92-45D1-AC0A-99C35C426F81}"/>
              </a:ext>
            </a:extLst>
          </p:cNvPr>
          <p:cNvSpPr>
            <a:spLocks noGrp="1"/>
          </p:cNvSpPr>
          <p:nvPr>
            <p:ph type="ctrTitle"/>
          </p:nvPr>
        </p:nvSpPr>
        <p:spPr>
          <a:xfrm>
            <a:off x="424070" y="1381172"/>
            <a:ext cx="10961342" cy="2421464"/>
          </a:xfrm>
        </p:spPr>
        <p:txBody>
          <a:bodyPr>
            <a:normAutofit/>
          </a:bodyPr>
          <a:lstStyle/>
          <a:p>
            <a:pPr algn="ctr"/>
            <a:r>
              <a:rPr lang="en-US" sz="5400" b="1" dirty="0">
                <a:latin typeface="Times New Roman" panose="02020603050405020304" pitchFamily="18" charset="0"/>
                <a:cs typeface="Times New Roman" panose="02020603050405020304" pitchFamily="18" charset="0"/>
              </a:rPr>
              <a:t>Maven market analysis</a:t>
            </a:r>
          </a:p>
        </p:txBody>
      </p:sp>
      <p:sp>
        <p:nvSpPr>
          <p:cNvPr id="3" name="Subtitle 2">
            <a:extLst>
              <a:ext uri="{FF2B5EF4-FFF2-40B4-BE49-F238E27FC236}">
                <a16:creationId xmlns:a16="http://schemas.microsoft.com/office/drawing/2014/main" id="{2EDDF6AC-0894-47D4-8B25-A203882B7027}"/>
              </a:ext>
            </a:extLst>
          </p:cNvPr>
          <p:cNvSpPr>
            <a:spLocks noGrp="1"/>
          </p:cNvSpPr>
          <p:nvPr>
            <p:ph type="subTitle" idx="1"/>
          </p:nvPr>
        </p:nvSpPr>
        <p:spPr>
          <a:xfrm>
            <a:off x="2305878" y="4186949"/>
            <a:ext cx="7197726" cy="1405467"/>
          </a:xfrm>
        </p:spPr>
        <p:txBody>
          <a:bodyPr/>
          <a:lstStyle/>
          <a:p>
            <a:pPr algn="ctr"/>
            <a:r>
              <a:rPr lang="en-US" sz="2000" b="1" i="1" dirty="0">
                <a:latin typeface="Times New Roman" panose="02020603050405020304" pitchFamily="18" charset="0"/>
                <a:cs typeface="Times New Roman" panose="02020603050405020304" pitchFamily="18" charset="0"/>
              </a:rPr>
              <a:t>(Sales, Products, Returns &amp; Customers | 1997–1998)</a:t>
            </a:r>
            <a:endParaRPr lang="en-US" sz="20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953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C58BA8D2-E1E6-4C61-9E14-7AEB4AD01BA4}"/>
              </a:ext>
            </a:extLst>
          </p:cNvPr>
          <p:cNvSpPr>
            <a:spLocks noChangeArrowheads="1"/>
          </p:cNvSpPr>
          <p:nvPr/>
        </p:nvSpPr>
        <p:spPr bwMode="auto">
          <a:xfrm>
            <a:off x="318052" y="2499474"/>
            <a:ext cx="11767931"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data is analyzed across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products, stores, regions, and time periods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includes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transactions, returns, customers, products, stores, regions, and calendar information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focuses on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trends, product profitability, return behavior, and customer insights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dashboards highlight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performance metrics, problem areas, and opportunities for improvement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BCEAF4E0-7C72-4066-8233-B0DA611948CA}"/>
              </a:ext>
            </a:extLst>
          </p:cNvPr>
          <p:cNvSpPr txBox="1"/>
          <p:nvPr/>
        </p:nvSpPr>
        <p:spPr>
          <a:xfrm>
            <a:off x="318052" y="289320"/>
            <a:ext cx="1155589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B68B255A-38FC-4CAF-B2E2-FA0B72D1D82E}"/>
              </a:ext>
            </a:extLst>
          </p:cNvPr>
          <p:cNvSpPr txBox="1"/>
          <p:nvPr/>
        </p:nvSpPr>
        <p:spPr>
          <a:xfrm>
            <a:off x="258417" y="1146989"/>
            <a:ext cx="11887199" cy="1141146"/>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Retail data analysis helps businesses understand sales performance, product success, customer behavior, and return impact</a:t>
            </a:r>
            <a:r>
              <a:rPr lang="en-US" sz="2400" b="1" dirty="0"/>
              <a:t>.</a:t>
            </a:r>
          </a:p>
        </p:txBody>
      </p:sp>
    </p:spTree>
    <p:extLst>
      <p:ext uri="{BB962C8B-B14F-4D97-AF65-F5344CB8AC3E}">
        <p14:creationId xmlns:p14="http://schemas.microsoft.com/office/powerpoint/2010/main" val="2320539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526352-7E79-47ED-B5DB-6E0243906F80}"/>
              </a:ext>
            </a:extLst>
          </p:cNvPr>
          <p:cNvSpPr txBox="1"/>
          <p:nvPr/>
        </p:nvSpPr>
        <p:spPr>
          <a:xfrm>
            <a:off x="795132" y="2136338"/>
            <a:ext cx="10933044" cy="2585323"/>
          </a:xfrm>
          <a:prstGeom prst="rect">
            <a:avLst/>
          </a:prstGeom>
          <a:noFill/>
        </p:spPr>
        <p:txBody>
          <a:bodyPr wrap="square" rtlCol="0">
            <a:spAutoFit/>
          </a:bodyPr>
          <a:lstStyle/>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Evaluate overall sales, revenue, profit, and growth trends</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Analyze product performance and profitability</a:t>
            </a:r>
          </a:p>
          <a:p>
            <a:pPr>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Assess return behavior and revenue impact</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Understand customer behavior and store performance</a:t>
            </a:r>
          </a:p>
          <a:p>
            <a:endParaRPr lang="en-US" dirty="0"/>
          </a:p>
        </p:txBody>
      </p:sp>
      <p:sp>
        <p:nvSpPr>
          <p:cNvPr id="3" name="TextBox 2">
            <a:extLst>
              <a:ext uri="{FF2B5EF4-FFF2-40B4-BE49-F238E27FC236}">
                <a16:creationId xmlns:a16="http://schemas.microsoft.com/office/drawing/2014/main" id="{5D404E57-5814-4210-BB90-0FDEF3CF9353}"/>
              </a:ext>
            </a:extLst>
          </p:cNvPr>
          <p:cNvSpPr txBox="1"/>
          <p:nvPr/>
        </p:nvSpPr>
        <p:spPr>
          <a:xfrm>
            <a:off x="119269" y="967408"/>
            <a:ext cx="1093304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465489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8B5647-4F6F-45F6-93ED-3E1C96D02AF9}"/>
              </a:ext>
            </a:extLst>
          </p:cNvPr>
          <p:cNvSpPr txBox="1"/>
          <p:nvPr/>
        </p:nvSpPr>
        <p:spPr>
          <a:xfrm>
            <a:off x="834888" y="352132"/>
            <a:ext cx="1072922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EXECUTIVE SALES OVERVIEW</a:t>
            </a:r>
          </a:p>
        </p:txBody>
      </p:sp>
      <p:pic>
        <p:nvPicPr>
          <p:cNvPr id="4" name="Picture 3">
            <a:extLst>
              <a:ext uri="{FF2B5EF4-FFF2-40B4-BE49-F238E27FC236}">
                <a16:creationId xmlns:a16="http://schemas.microsoft.com/office/drawing/2014/main" id="{61AD422D-7451-46A1-A9E4-C71D4A325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834" y="1014075"/>
            <a:ext cx="11184835" cy="5491793"/>
          </a:xfrm>
          <a:prstGeom prst="rect">
            <a:avLst/>
          </a:prstGeom>
        </p:spPr>
      </p:pic>
    </p:spTree>
    <p:extLst>
      <p:ext uri="{BB962C8B-B14F-4D97-AF65-F5344CB8AC3E}">
        <p14:creationId xmlns:p14="http://schemas.microsoft.com/office/powerpoint/2010/main" val="111243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D1531C6E-4F87-4B40-9971-5ADD2453D416}"/>
              </a:ext>
            </a:extLst>
          </p:cNvPr>
          <p:cNvSpPr>
            <a:spLocks noChangeArrowheads="1"/>
          </p:cNvSpPr>
          <p:nvPr/>
        </p:nvSpPr>
        <p:spPr bwMode="auto">
          <a:xfrm>
            <a:off x="516835" y="1838146"/>
            <a:ext cx="11675165"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revenue and profit indicate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overall business performance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 healthy profit margin.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North West region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major contributor to both revenue and profit.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shows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steady upward trend over time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indicating consistent growth.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few stores contribute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 share of total sales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highlighting store concentration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342900" indent="-342900" defTabSz="914400" eaLnBrk="0" fontAlgn="base" hangingPunct="0">
              <a:lnSpc>
                <a:spcPct val="150000"/>
              </a:lnSpc>
              <a:spcBef>
                <a:spcPct val="0"/>
              </a:spcBef>
              <a:spcAft>
                <a:spcPct val="0"/>
              </a:spcAft>
              <a:buFont typeface="Wingdings" panose="05000000000000000000" pitchFamily="2" charset="2"/>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 rate is 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minimizing overall revenue loss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concentrated in a few product categories and regions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1E6426E-13A8-4AF2-BA89-9E50E234A5B1}"/>
              </a:ext>
            </a:extLst>
          </p:cNvPr>
          <p:cNvSpPr txBox="1"/>
          <p:nvPr/>
        </p:nvSpPr>
        <p:spPr>
          <a:xfrm>
            <a:off x="742122" y="622853"/>
            <a:ext cx="1070775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EXECUTIVE DASHBOARD INSIGHT</a:t>
            </a:r>
          </a:p>
        </p:txBody>
      </p:sp>
    </p:spTree>
    <p:extLst>
      <p:ext uri="{BB962C8B-B14F-4D97-AF65-F5344CB8AC3E}">
        <p14:creationId xmlns:p14="http://schemas.microsoft.com/office/powerpoint/2010/main" val="2806975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C034F6-52A4-4F5F-A000-C9D66EDA1E90}"/>
              </a:ext>
            </a:extLst>
          </p:cNvPr>
          <p:cNvSpPr txBox="1"/>
          <p:nvPr/>
        </p:nvSpPr>
        <p:spPr>
          <a:xfrm>
            <a:off x="1563758" y="193820"/>
            <a:ext cx="939579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PRODUCT ANALYSIS DASHBOARD</a:t>
            </a:r>
          </a:p>
        </p:txBody>
      </p:sp>
      <p:pic>
        <p:nvPicPr>
          <p:cNvPr id="3" name="Picture 2">
            <a:extLst>
              <a:ext uri="{FF2B5EF4-FFF2-40B4-BE49-F238E27FC236}">
                <a16:creationId xmlns:a16="http://schemas.microsoft.com/office/drawing/2014/main" id="{177AD83A-63B9-40A2-988A-1D63A5315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565" y="1009312"/>
            <a:ext cx="11264347" cy="5550514"/>
          </a:xfrm>
          <a:prstGeom prst="rect">
            <a:avLst/>
          </a:prstGeom>
        </p:spPr>
      </p:pic>
    </p:spTree>
    <p:extLst>
      <p:ext uri="{BB962C8B-B14F-4D97-AF65-F5344CB8AC3E}">
        <p14:creationId xmlns:p14="http://schemas.microsoft.com/office/powerpoint/2010/main" val="3345589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208C39-6C02-4B6B-8C47-4964B62AD839}"/>
              </a:ext>
            </a:extLst>
          </p:cNvPr>
          <p:cNvSpPr>
            <a:spLocks noChangeArrowheads="1"/>
          </p:cNvSpPr>
          <p:nvPr/>
        </p:nvSpPr>
        <p:spPr bwMode="auto">
          <a:xfrm>
            <a:off x="503584" y="1889857"/>
            <a:ext cx="11423371"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small number of products generate significant revenue and profit.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High-ticket transactions contribute strongly to total profit.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products show high sales volume but lower profit margins.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Products with strong performance may still have higher return rates, indicating quality or expectation issues.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 performance table helps identify top and underperforming products clearly.</a:t>
            </a:r>
          </a:p>
        </p:txBody>
      </p:sp>
      <p:sp>
        <p:nvSpPr>
          <p:cNvPr id="3" name="TextBox 2">
            <a:extLst>
              <a:ext uri="{FF2B5EF4-FFF2-40B4-BE49-F238E27FC236}">
                <a16:creationId xmlns:a16="http://schemas.microsoft.com/office/drawing/2014/main" id="{B369177E-E01A-4D43-A0BA-F59BFF5C215A}"/>
              </a:ext>
            </a:extLst>
          </p:cNvPr>
          <p:cNvSpPr txBox="1"/>
          <p:nvPr/>
        </p:nvSpPr>
        <p:spPr>
          <a:xfrm>
            <a:off x="198783" y="808383"/>
            <a:ext cx="11423371"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PRODUCT ANALYSIS DASHBOARD INSIGHT</a:t>
            </a:r>
          </a:p>
        </p:txBody>
      </p:sp>
    </p:spTree>
    <p:extLst>
      <p:ext uri="{BB962C8B-B14F-4D97-AF65-F5344CB8AC3E}">
        <p14:creationId xmlns:p14="http://schemas.microsoft.com/office/powerpoint/2010/main" val="3260628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6FDA8B-81E5-4CBE-9DD1-D461D6750D62}"/>
              </a:ext>
            </a:extLst>
          </p:cNvPr>
          <p:cNvSpPr txBox="1"/>
          <p:nvPr/>
        </p:nvSpPr>
        <p:spPr>
          <a:xfrm>
            <a:off x="2663687" y="278296"/>
            <a:ext cx="6983896"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RETURN DASHBOARD</a:t>
            </a:r>
          </a:p>
        </p:txBody>
      </p:sp>
      <p:pic>
        <p:nvPicPr>
          <p:cNvPr id="3" name="Picture 2">
            <a:extLst>
              <a:ext uri="{FF2B5EF4-FFF2-40B4-BE49-F238E27FC236}">
                <a16:creationId xmlns:a16="http://schemas.microsoft.com/office/drawing/2014/main" id="{AD63B1C3-8604-4E4E-9874-E900E76C4F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575" y="1028364"/>
            <a:ext cx="11330608" cy="5551339"/>
          </a:xfrm>
          <a:prstGeom prst="rect">
            <a:avLst/>
          </a:prstGeom>
        </p:spPr>
      </p:pic>
    </p:spTree>
    <p:extLst>
      <p:ext uri="{BB962C8B-B14F-4D97-AF65-F5344CB8AC3E}">
        <p14:creationId xmlns:p14="http://schemas.microsoft.com/office/powerpoint/2010/main" val="250447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3B7EA-4A57-4C75-8CCE-341FE03FDD95}"/>
              </a:ext>
            </a:extLst>
          </p:cNvPr>
          <p:cNvSpPr>
            <a:spLocks noChangeArrowheads="1"/>
          </p:cNvSpPr>
          <p:nvPr/>
        </p:nvSpPr>
        <p:spPr bwMode="auto">
          <a:xfrm>
            <a:off x="954158" y="2193359"/>
            <a:ext cx="10774016"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return rate is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but returns still cause noticeable revenue loss.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Certain products have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return quantities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compared to others.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lang="en-US" sz="2400" dirty="0">
                <a:latin typeface="Times New Roman" panose="02020603050405020304" pitchFamily="18" charset="0"/>
                <a:cs typeface="Times New Roman" panose="02020603050405020304" pitchFamily="18" charset="0"/>
              </a:rPr>
              <a:t>Return quantities increase in line with sales growth</a:t>
            </a: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High-selling products often show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return risk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Specific regions contribute more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lost due to returns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TextBox 2">
            <a:extLst>
              <a:ext uri="{FF2B5EF4-FFF2-40B4-BE49-F238E27FC236}">
                <a16:creationId xmlns:a16="http://schemas.microsoft.com/office/drawing/2014/main" id="{897EA381-6BC7-445F-8A18-6A0AC2449659}"/>
              </a:ext>
            </a:extLst>
          </p:cNvPr>
          <p:cNvSpPr txBox="1"/>
          <p:nvPr/>
        </p:nvSpPr>
        <p:spPr>
          <a:xfrm>
            <a:off x="1868557" y="891047"/>
            <a:ext cx="812358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RETURN DASHBOARD INSIGHT</a:t>
            </a:r>
          </a:p>
        </p:txBody>
      </p:sp>
    </p:spTree>
    <p:extLst>
      <p:ext uri="{BB962C8B-B14F-4D97-AF65-F5344CB8AC3E}">
        <p14:creationId xmlns:p14="http://schemas.microsoft.com/office/powerpoint/2010/main" val="422728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F845EB-02D7-42FD-9B58-097ABFF41D13}"/>
              </a:ext>
            </a:extLst>
          </p:cNvPr>
          <p:cNvSpPr txBox="1"/>
          <p:nvPr/>
        </p:nvSpPr>
        <p:spPr>
          <a:xfrm>
            <a:off x="304801" y="372544"/>
            <a:ext cx="118872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CUSTOMER AND STORE PERFORMANCE DASHBOARD</a:t>
            </a:r>
          </a:p>
        </p:txBody>
      </p:sp>
      <p:pic>
        <p:nvPicPr>
          <p:cNvPr id="3" name="Picture 2">
            <a:extLst>
              <a:ext uri="{FF2B5EF4-FFF2-40B4-BE49-F238E27FC236}">
                <a16:creationId xmlns:a16="http://schemas.microsoft.com/office/drawing/2014/main" id="{08824D49-F5C1-4081-9C43-F2FFD02FE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096" y="957319"/>
            <a:ext cx="10972800" cy="5528137"/>
          </a:xfrm>
          <a:prstGeom prst="rect">
            <a:avLst/>
          </a:prstGeom>
        </p:spPr>
      </p:pic>
    </p:spTree>
    <p:extLst>
      <p:ext uri="{BB962C8B-B14F-4D97-AF65-F5344CB8AC3E}">
        <p14:creationId xmlns:p14="http://schemas.microsoft.com/office/powerpoint/2010/main" val="795167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E98EB8-F41F-4B7B-BA28-97C47C9C3ABC}"/>
              </a:ext>
            </a:extLst>
          </p:cNvPr>
          <p:cNvSpPr>
            <a:spLocks noChangeArrowheads="1"/>
          </p:cNvSpPr>
          <p:nvPr/>
        </p:nvSpPr>
        <p:spPr bwMode="auto">
          <a:xfrm>
            <a:off x="556591" y="1754022"/>
            <a:ext cx="11635409"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and low-income customers contribute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of the revenue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contribution from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male and female customers is nearly equal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Supermarkets and deluxe supermarkets generate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revenue and profit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than smaller store types.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Revenue per customer shows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customer value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 performance varies significantly across locations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4" name="TextBox 3">
            <a:extLst>
              <a:ext uri="{FF2B5EF4-FFF2-40B4-BE49-F238E27FC236}">
                <a16:creationId xmlns:a16="http://schemas.microsoft.com/office/drawing/2014/main" id="{BAB2FE54-7639-4C82-A6D0-0C6229AFCE83}"/>
              </a:ext>
            </a:extLst>
          </p:cNvPr>
          <p:cNvSpPr txBox="1"/>
          <p:nvPr/>
        </p:nvSpPr>
        <p:spPr>
          <a:xfrm>
            <a:off x="662607" y="408423"/>
            <a:ext cx="1102580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CUSTOMER AND STORE DASHBOARD INSIGHT</a:t>
            </a:r>
          </a:p>
        </p:txBody>
      </p:sp>
    </p:spTree>
    <p:extLst>
      <p:ext uri="{BB962C8B-B14F-4D97-AF65-F5344CB8AC3E}">
        <p14:creationId xmlns:p14="http://schemas.microsoft.com/office/powerpoint/2010/main" val="60916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E38F50-583A-4298-85D1-FB0FAC6C0D05}"/>
              </a:ext>
            </a:extLst>
          </p:cNvPr>
          <p:cNvSpPr txBox="1"/>
          <p:nvPr/>
        </p:nvSpPr>
        <p:spPr>
          <a:xfrm>
            <a:off x="622853" y="1051329"/>
            <a:ext cx="10542104" cy="557697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Total Revenue:</a:t>
            </a:r>
            <a:r>
              <a:rPr lang="en-US" sz="2000" dirty="0">
                <a:latin typeface="Times New Roman" panose="02020603050405020304" pitchFamily="18" charset="0"/>
                <a:cs typeface="Times New Roman" panose="02020603050405020304" pitchFamily="18" charset="0"/>
              </a:rPr>
              <a:t> 1.76M, showing strong overall sales performance.</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Net Revenue:</a:t>
            </a:r>
            <a:r>
              <a:rPr lang="en-US" sz="2000" dirty="0">
                <a:latin typeface="Times New Roman" panose="02020603050405020304" pitchFamily="18" charset="0"/>
                <a:cs typeface="Times New Roman" panose="02020603050405020304" pitchFamily="18" charset="0"/>
              </a:rPr>
              <a:t> 1.75M after accounting for returns.</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Total Profit:</a:t>
            </a:r>
            <a:r>
              <a:rPr lang="en-US" sz="2000" dirty="0">
                <a:latin typeface="Times New Roman" panose="02020603050405020304" pitchFamily="18" charset="0"/>
                <a:cs typeface="Times New Roman" panose="02020603050405020304" pitchFamily="18" charset="0"/>
              </a:rPr>
              <a:t> 1.05M, indicating healthy business profitability.</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Profit Margin:</a:t>
            </a:r>
            <a:r>
              <a:rPr lang="en-US" sz="2000" dirty="0">
                <a:latin typeface="Times New Roman" panose="02020603050405020304" pitchFamily="18" charset="0"/>
                <a:cs typeface="Times New Roman" panose="02020603050405020304" pitchFamily="18" charset="0"/>
              </a:rPr>
              <a:t> 60%, reflecting efficient cost management.</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Total Transactions:</a:t>
            </a:r>
            <a:r>
              <a:rPr lang="en-US" sz="2000" dirty="0">
                <a:latin typeface="Times New Roman" panose="02020603050405020304" pitchFamily="18" charset="0"/>
                <a:cs typeface="Times New Roman" panose="02020603050405020304" pitchFamily="18" charset="0"/>
              </a:rPr>
              <a:t> 270K completed transactions.</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USA Transactions:</a:t>
            </a:r>
            <a:r>
              <a:rPr lang="en-US" sz="2000" dirty="0">
                <a:latin typeface="Times New Roman" panose="02020603050405020304" pitchFamily="18" charset="0"/>
                <a:cs typeface="Times New Roman" panose="02020603050405020304" pitchFamily="18" charset="0"/>
              </a:rPr>
              <a:t> 181K, contributing the largest share of sales.</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Return Rate:</a:t>
            </a:r>
            <a:r>
              <a:rPr lang="en-US" sz="2000" dirty="0">
                <a:latin typeface="Times New Roman" panose="02020603050405020304" pitchFamily="18" charset="0"/>
                <a:cs typeface="Times New Roman" panose="02020603050405020304" pitchFamily="18" charset="0"/>
              </a:rPr>
              <a:t> 1%, low but financially impactful.</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Revenue Lost to Returns:</a:t>
            </a:r>
            <a:r>
              <a:rPr lang="en-US" sz="2000" dirty="0">
                <a:latin typeface="Times New Roman" panose="02020603050405020304" pitchFamily="18" charset="0"/>
                <a:cs typeface="Times New Roman" panose="02020603050405020304" pitchFamily="18" charset="0"/>
              </a:rPr>
              <a:t> 17K due to returned products.</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Total Customers:</a:t>
            </a:r>
            <a:r>
              <a:rPr lang="en-US" sz="2000" dirty="0">
                <a:latin typeface="Times New Roman" panose="02020603050405020304" pitchFamily="18" charset="0"/>
                <a:cs typeface="Times New Roman" panose="02020603050405020304" pitchFamily="18" charset="0"/>
              </a:rPr>
              <a:t> 8,842 active customers.</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Revenue per Customer:</a:t>
            </a:r>
            <a:r>
              <a:rPr lang="en-US" sz="2000" dirty="0">
                <a:latin typeface="Times New Roman" panose="02020603050405020304" pitchFamily="18" charset="0"/>
                <a:cs typeface="Times New Roman" panose="02020603050405020304" pitchFamily="18" charset="0"/>
              </a:rPr>
              <a:t> 199.56, showing strong customer value.</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Total Products:</a:t>
            </a:r>
            <a:r>
              <a:rPr lang="en-US" sz="2000" dirty="0">
                <a:latin typeface="Times New Roman" panose="02020603050405020304" pitchFamily="18" charset="0"/>
                <a:cs typeface="Times New Roman" panose="02020603050405020304" pitchFamily="18" charset="0"/>
              </a:rPr>
              <a:t> 1,560 products analyzed.</a:t>
            </a:r>
          </a:p>
          <a:p>
            <a:pPr marL="285750" indent="-28575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Total Quantity Sold:</a:t>
            </a:r>
            <a:r>
              <a:rPr lang="en-US" sz="2000" dirty="0">
                <a:latin typeface="Times New Roman" panose="02020603050405020304" pitchFamily="18" charset="0"/>
                <a:cs typeface="Times New Roman" panose="02020603050405020304" pitchFamily="18" charset="0"/>
              </a:rPr>
              <a:t> 833K units sold across all stores.</a:t>
            </a:r>
          </a:p>
        </p:txBody>
      </p:sp>
      <p:sp>
        <p:nvSpPr>
          <p:cNvPr id="4" name="TextBox 3">
            <a:extLst>
              <a:ext uri="{FF2B5EF4-FFF2-40B4-BE49-F238E27FC236}">
                <a16:creationId xmlns:a16="http://schemas.microsoft.com/office/drawing/2014/main" id="{59A3AA6F-0FB4-4614-A5C9-08626E5FC7BA}"/>
              </a:ext>
            </a:extLst>
          </p:cNvPr>
          <p:cNvSpPr txBox="1"/>
          <p:nvPr/>
        </p:nvSpPr>
        <p:spPr>
          <a:xfrm>
            <a:off x="1179443" y="404998"/>
            <a:ext cx="9833113" cy="646331"/>
          </a:xfrm>
          <a:prstGeom prst="rect">
            <a:avLst/>
          </a:prstGeom>
          <a:noFill/>
        </p:spPr>
        <p:txBody>
          <a:bodyPr wrap="square" rtlCol="0">
            <a:spAutoFit/>
          </a:bodyPr>
          <a:lstStyle/>
          <a:p>
            <a:pPr algn="ctr"/>
            <a:r>
              <a:rPr lang="en-US" sz="3600" b="1">
                <a:latin typeface="Times New Roman" panose="02020603050405020304" pitchFamily="18" charset="0"/>
                <a:cs typeface="Times New Roman" panose="02020603050405020304" pitchFamily="18" charset="0"/>
              </a:rPr>
              <a:t> CARDS </a:t>
            </a:r>
            <a:r>
              <a:rPr lang="en-US" sz="3600" b="1" dirty="0">
                <a:latin typeface="Times New Roman" panose="02020603050405020304" pitchFamily="18" charset="0"/>
                <a:cs typeface="Times New Roman" panose="02020603050405020304" pitchFamily="18" charset="0"/>
              </a:rPr>
              <a:t>HIGHLIGHT</a:t>
            </a:r>
          </a:p>
        </p:txBody>
      </p:sp>
    </p:spTree>
    <p:extLst>
      <p:ext uri="{BB962C8B-B14F-4D97-AF65-F5344CB8AC3E}">
        <p14:creationId xmlns:p14="http://schemas.microsoft.com/office/powerpoint/2010/main" val="85760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2D674F-A9FA-4AEA-B05F-E1D22BD88DDE}"/>
              </a:ext>
            </a:extLst>
          </p:cNvPr>
          <p:cNvSpPr txBox="1"/>
          <p:nvPr/>
        </p:nvSpPr>
        <p:spPr>
          <a:xfrm>
            <a:off x="609600" y="2042205"/>
            <a:ext cx="10972799" cy="334995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Business Growth</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Revenue Concentration</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Returns Effect</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Customer Behavior</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Regional Influence</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High-Value Sales</a:t>
            </a: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7D23DB0-9BD3-4741-87A7-10CB7A9C7794}"/>
              </a:ext>
            </a:extLst>
          </p:cNvPr>
          <p:cNvSpPr txBox="1"/>
          <p:nvPr/>
        </p:nvSpPr>
        <p:spPr>
          <a:xfrm>
            <a:off x="861391" y="808383"/>
            <a:ext cx="909099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FINDINGS</a:t>
            </a:r>
          </a:p>
        </p:txBody>
      </p:sp>
    </p:spTree>
    <p:extLst>
      <p:ext uri="{BB962C8B-B14F-4D97-AF65-F5344CB8AC3E}">
        <p14:creationId xmlns:p14="http://schemas.microsoft.com/office/powerpoint/2010/main" val="280331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F4D0B0-7AEF-4A89-B9E1-EA678B86DAED}"/>
              </a:ext>
            </a:extLst>
          </p:cNvPr>
          <p:cNvSpPr txBox="1"/>
          <p:nvPr/>
        </p:nvSpPr>
        <p:spPr>
          <a:xfrm>
            <a:off x="834887" y="1060174"/>
            <a:ext cx="10535478"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RECOMMENDATION</a:t>
            </a:r>
          </a:p>
        </p:txBody>
      </p:sp>
      <p:sp>
        <p:nvSpPr>
          <p:cNvPr id="5" name="TextBox 4">
            <a:extLst>
              <a:ext uri="{FF2B5EF4-FFF2-40B4-BE49-F238E27FC236}">
                <a16:creationId xmlns:a16="http://schemas.microsoft.com/office/drawing/2014/main" id="{94A5E4FB-C88F-4D57-89D4-68A4AB355715}"/>
              </a:ext>
            </a:extLst>
          </p:cNvPr>
          <p:cNvSpPr txBox="1"/>
          <p:nvPr/>
        </p:nvSpPr>
        <p:spPr>
          <a:xfrm>
            <a:off x="689113" y="2001152"/>
            <a:ext cx="11370365" cy="3349956"/>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Focus on Top Products</a:t>
            </a:r>
          </a:p>
          <a:p>
            <a:pPr marL="285750" indent="-28575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Target Key Customers</a:t>
            </a:r>
          </a:p>
          <a:p>
            <a:pPr marL="285750" indent="-28575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Optimize Store Operations</a:t>
            </a:r>
          </a:p>
          <a:p>
            <a:pPr marL="285750" indent="-28575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Reduce Returns</a:t>
            </a:r>
          </a:p>
          <a:p>
            <a:pPr marL="285750" indent="-28575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Regional Strategy</a:t>
            </a:r>
          </a:p>
          <a:p>
            <a:pPr marL="285750" indent="-285750">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Manage High-Ticket Risk</a:t>
            </a:r>
          </a:p>
        </p:txBody>
      </p:sp>
    </p:spTree>
    <p:extLst>
      <p:ext uri="{BB962C8B-B14F-4D97-AF65-F5344CB8AC3E}">
        <p14:creationId xmlns:p14="http://schemas.microsoft.com/office/powerpoint/2010/main" val="4210537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7BACDE-09A1-4F45-AD2D-AA2E03B53BE4}"/>
              </a:ext>
            </a:extLst>
          </p:cNvPr>
          <p:cNvSpPr>
            <a:spLocks noChangeArrowheads="1"/>
          </p:cNvSpPr>
          <p:nvPr/>
        </p:nvSpPr>
        <p:spPr bwMode="auto">
          <a:xfrm>
            <a:off x="424069" y="1428887"/>
            <a:ext cx="11343861"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Maven Market’s analysis reveals a strong and profitable retail business with consistent revenue growth and a healthy profit margin. Sales performance is driven by a small set of high-performing products, stores, and regions, while customer income level plays a significant role in purchasing behavior and overall revenue contribution. Although the return rate remains low, returns still result in noticeable revenue loss, indicating the need for improved return management. Store and regional performance varies widely, highlighting opportunities for targeted strategies to improve underperforming locations. Overall, the insights support data-driven decision-making to enhance profitability, customer value, and operational efficiency.</a:t>
            </a:r>
          </a:p>
        </p:txBody>
      </p:sp>
      <p:sp>
        <p:nvSpPr>
          <p:cNvPr id="6" name="TextBox 5">
            <a:extLst>
              <a:ext uri="{FF2B5EF4-FFF2-40B4-BE49-F238E27FC236}">
                <a16:creationId xmlns:a16="http://schemas.microsoft.com/office/drawing/2014/main" id="{1442F78F-F327-4178-926C-3A909A95E261}"/>
              </a:ext>
            </a:extLst>
          </p:cNvPr>
          <p:cNvSpPr txBox="1"/>
          <p:nvPr/>
        </p:nvSpPr>
        <p:spPr>
          <a:xfrm>
            <a:off x="1928192" y="530765"/>
            <a:ext cx="751398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631582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B45EA4-5431-453B-9FDE-504106897B7E}"/>
              </a:ext>
            </a:extLst>
          </p:cNvPr>
          <p:cNvSpPr txBox="1"/>
          <p:nvPr/>
        </p:nvSpPr>
        <p:spPr>
          <a:xfrm>
            <a:off x="1616765" y="2915478"/>
            <a:ext cx="8428383" cy="646331"/>
          </a:xfrm>
          <a:prstGeom prst="rect">
            <a:avLst/>
          </a:prstGeom>
          <a:noFill/>
        </p:spPr>
        <p:txBody>
          <a:bodyPr wrap="square" rtlCol="0">
            <a:spAutoFit/>
          </a:bodyPr>
          <a:lstStyle/>
          <a:p>
            <a:pPr algn="ctr"/>
            <a:r>
              <a:rPr lang="en-US" sz="3600" b="1" cap="all"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48103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TM03457452[[fn=Celestial]]</Template>
  <TotalTime>278</TotalTime>
  <Words>659</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Celestial</vt:lpstr>
      <vt:lpstr>Maven market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Maven market analysis</dc:title>
  <dc:creator>user</dc:creator>
  <cp:lastModifiedBy>user</cp:lastModifiedBy>
  <cp:revision>14</cp:revision>
  <dcterms:created xsi:type="dcterms:W3CDTF">2025-12-14T04:59:34Z</dcterms:created>
  <dcterms:modified xsi:type="dcterms:W3CDTF">2025-12-24T06:27:14Z</dcterms:modified>
</cp:coreProperties>
</file>